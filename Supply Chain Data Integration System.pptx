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embeddedFontLst>
    <p:embeddedFont>
      <p:font typeface="Urbanist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98ea63a7f3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g398ea63a7f3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98ea63a7f3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g398ea63a7f3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95275" y="2257425"/>
            <a:ext cx="11601450" cy="161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58A6FF"/>
                </a:solidFill>
                <a:latin typeface="Urbanist"/>
                <a:ea typeface="Urbanist"/>
                <a:cs typeface="Urbanist"/>
                <a:sym typeface="Urbanist"/>
              </a:rPr>
              <a:t>SUPPLY CHAIN DATA INTEGRATION SYSTEM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571500" y="4067175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Building a robust data warehouse for end-to-end supply chain visibility.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/>
          <p:nvPr/>
        </p:nvSpPr>
        <p:spPr>
          <a:xfrm>
            <a:off x="5619750" y="1961554"/>
            <a:ext cx="952500" cy="47625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3705701" y="2294929"/>
            <a:ext cx="4780597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Table of Contents</a:t>
            </a:r>
            <a:endParaRPr/>
          </a:p>
        </p:txBody>
      </p:sp>
      <p:sp>
        <p:nvSpPr>
          <p:cNvPr id="92" name="Google Shape;92;p14"/>
          <p:cNvSpPr txBox="1"/>
          <p:nvPr/>
        </p:nvSpPr>
        <p:spPr>
          <a:xfrm>
            <a:off x="4538662" y="3171229"/>
            <a:ext cx="3114675" cy="2010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1. Project Overview &amp; Objective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2. Technical Specifications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3. Design Solutions (HLD / LLD)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4. End-to-End Pipeline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5. Data Integrity &amp; Orchestration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6. Visualizations &amp; Business Impact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 txBox="1"/>
          <p:nvPr/>
        </p:nvSpPr>
        <p:spPr>
          <a:xfrm>
            <a:off x="1238250" y="2609850"/>
            <a:ext cx="100965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This project builds a data warehouse by transforming a single, flat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BigQuery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table (`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Supply_Chain_Data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`) into a high-performance star schema.</a:t>
            </a:r>
            <a:endParaRPr dirty="0"/>
          </a:p>
        </p:txBody>
      </p:sp>
      <p:sp>
        <p:nvSpPr>
          <p:cNvPr id="99" name="Google Shape;99;p15"/>
          <p:cNvSpPr txBox="1"/>
          <p:nvPr/>
        </p:nvSpPr>
        <p:spPr>
          <a:xfrm>
            <a:off x="1238250" y="3371850"/>
            <a:ext cx="10096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Curated datasets are stored in BigQuery as Dimension and Fact tables, with governance enabled by Slowly Changing Dimensions (SCD) Type 2.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1238250" y="4133850"/>
            <a:ext cx="10096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The purpose is to create a "Single Source of Truth" for analytics and enable accurate historical, point-in-time reporting.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1238250" y="4610100"/>
            <a:ext cx="10096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The system powers a Streamlit dashboard for business users to explore sales, profit, and customer trends.</a:t>
            </a:r>
            <a:endParaRPr/>
          </a:p>
        </p:txBody>
      </p:sp>
      <p:pic>
        <p:nvPicPr>
          <p:cNvPr id="102" name="Google Shape;10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26574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341947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418147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46577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58A6FF"/>
                </a:solidFill>
                <a:latin typeface="Urbanist"/>
                <a:ea typeface="Urbanist"/>
                <a:cs typeface="Urbanist"/>
                <a:sym typeface="Urbanist"/>
              </a:rPr>
              <a:t>PROJECT OVERVIEW &amp; OBJECTIVE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9496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 txBox="1"/>
          <p:nvPr/>
        </p:nvSpPr>
        <p:spPr>
          <a:xfrm>
            <a:off x="1238250" y="1990725"/>
            <a:ext cx="100965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Source: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`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Supply_Chain_Data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` </a:t>
            </a:r>
            <a:r>
              <a:rPr lang="en-US" sz="1500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and </a:t>
            </a:r>
            <a:r>
              <a:rPr lang="en-US" sz="1500" dirty="0" err="1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FakeStore</a:t>
            </a:r>
            <a:r>
              <a:rPr lang="en-US" sz="1500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API 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tables in Google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BigQuery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500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from Kaggle</a:t>
            </a:r>
            <a:endParaRPr dirty="0"/>
          </a:p>
        </p:txBody>
      </p:sp>
      <p:sp>
        <p:nvSpPr>
          <p:cNvPr id="113" name="Google Shape;113;p16"/>
          <p:cNvSpPr txBox="1"/>
          <p:nvPr/>
        </p:nvSpPr>
        <p:spPr>
          <a:xfrm>
            <a:off x="1238250" y="2466975"/>
            <a:ext cx="100965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Processing: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All transformations handled </a:t>
            </a:r>
            <a:r>
              <a:rPr lang="en-US" sz="1500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using the </a:t>
            </a:r>
            <a:r>
              <a:rPr lang="en-US" sz="1500" dirty="0" err="1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Medollain</a:t>
            </a:r>
            <a:r>
              <a:rPr lang="en-US" sz="1500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architecture rules to result the refined data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14" name="Google Shape;114;p16"/>
          <p:cNvSpPr txBox="1"/>
          <p:nvPr/>
        </p:nvSpPr>
        <p:spPr>
          <a:xfrm>
            <a:off x="1238250" y="2943225"/>
            <a:ext cx="10096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Data Model: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Star Schema with `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Fact_Sales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` and 5 dimensions (`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Dim_Product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`, `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Dim_Customer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`, `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Dim_Location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`, `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Dim_Shipping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`, `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Dim_Date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`).</a:t>
            </a:r>
            <a:endParaRPr dirty="0"/>
          </a:p>
        </p:txBody>
      </p:sp>
      <p:sp>
        <p:nvSpPr>
          <p:cNvPr id="115" name="Google Shape;115;p16"/>
          <p:cNvSpPr txBox="1"/>
          <p:nvPr/>
        </p:nvSpPr>
        <p:spPr>
          <a:xfrm>
            <a:off x="1238250" y="3705225"/>
            <a:ext cx="10096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Governance: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SCD Type 2 implemented on `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Dim_Product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`, `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Dim_Customer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`, and `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Dim_Location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` to track historical changes.</a:t>
            </a:r>
            <a:endParaRPr dirty="0"/>
          </a:p>
        </p:txBody>
      </p:sp>
      <p:sp>
        <p:nvSpPr>
          <p:cNvPr id="116" name="Google Shape;116;p16"/>
          <p:cNvSpPr txBox="1"/>
          <p:nvPr/>
        </p:nvSpPr>
        <p:spPr>
          <a:xfrm>
            <a:off x="1238250" y="4467225"/>
            <a:ext cx="10096500" cy="346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Orchestration: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SQL scripts designed to be run in sequence by a Python script, enabling automation via GCP Cloud</a:t>
            </a:r>
            <a:endParaRPr dirty="0"/>
          </a:p>
        </p:txBody>
      </p:sp>
      <p:sp>
        <p:nvSpPr>
          <p:cNvPr id="117" name="Google Shape;117;p16"/>
          <p:cNvSpPr txBox="1"/>
          <p:nvPr/>
        </p:nvSpPr>
        <p:spPr>
          <a:xfrm>
            <a:off x="1238250" y="5229225"/>
            <a:ext cx="10096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Visualization:</a:t>
            </a:r>
            <a:r>
              <a:rPr lang="en-US" sz="150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End-user analytics delivered via a Streamlit dashboard.</a:t>
            </a:r>
            <a:endParaRPr/>
          </a:p>
        </p:txBody>
      </p:sp>
      <p:pic>
        <p:nvPicPr>
          <p:cNvPr id="118" name="Google Shape;11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20383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251460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299085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375285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7250" y="451485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7250" y="5276850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58A6FF"/>
                </a:solidFill>
                <a:latin typeface="Urbanist"/>
                <a:ea typeface="Urbanist"/>
                <a:cs typeface="Urbanist"/>
                <a:sym typeface="Urbanist"/>
              </a:rPr>
              <a:t>TECHNICAL SPECIFICATIONS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657475"/>
            <a:ext cx="5286375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657475"/>
            <a:ext cx="5286375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849391" y="3048000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58A6FF"/>
                </a:solidFill>
                <a:latin typeface="Urbanist"/>
                <a:ea typeface="Urbanist"/>
                <a:cs typeface="Urbanist"/>
                <a:sym typeface="Urbanist"/>
              </a:rPr>
              <a:t>HLD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962025" y="3600450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High-Level Design: The conceptual flow of data from the source table to the end-user dashboard.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6612016" y="3048000"/>
            <a:ext cx="4730591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58A6FF"/>
                </a:solidFill>
                <a:latin typeface="Urbanist"/>
                <a:ea typeface="Urbanist"/>
                <a:cs typeface="Urbanist"/>
                <a:sym typeface="Urbanist"/>
              </a:rPr>
              <a:t>LLD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6724650" y="3600450"/>
            <a:ext cx="450532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Low-Level Design: The detailed schema, including Star Schema structure and SCD Type 2 implementation.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58A6FF"/>
                </a:solidFill>
                <a:latin typeface="Urbanist"/>
                <a:ea typeface="Urbanist"/>
                <a:cs typeface="Urbanist"/>
                <a:sym typeface="Urbanist"/>
              </a:rPr>
              <a:t>DESIGN SOLUTIONS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83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4310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/>
        </p:nvSpPr>
        <p:spPr>
          <a:xfrm>
            <a:off x="571500" y="1943100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58A6FF"/>
                </a:solidFill>
                <a:latin typeface="Urbanist"/>
                <a:ea typeface="Urbanist"/>
                <a:cs typeface="Urbanist"/>
                <a:sym typeface="Urbanist"/>
              </a:rPr>
              <a:t>Conceptual Data Flow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733425" y="24479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762000" y="2447925"/>
            <a:ext cx="5095875" cy="623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Source:</a:t>
            </a:r>
            <a:r>
              <a:rPr lang="en-US" sz="1350" b="0" i="0" u="none" strike="noStrike" cap="none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Data resides in the single `</a:t>
            </a:r>
            <a:r>
              <a:rPr lang="en-US" sz="1350" b="0" i="0" u="none" strike="noStrike" cap="none" dirty="0" err="1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Supply_Chain_Data</a:t>
            </a:r>
            <a:r>
              <a:rPr lang="en-US" sz="1350" b="0" i="0" u="none" strike="noStrike" cap="none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` table in </a:t>
            </a:r>
            <a:r>
              <a:rPr lang="en-US" sz="1350" b="0" i="0" u="none" strike="noStrike" cap="none" dirty="0" err="1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BigQuery</a:t>
            </a:r>
            <a:r>
              <a:rPr lang="en-US" sz="1350" b="0" i="0" u="none" strike="noStrike" cap="none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  <p:sp>
        <p:nvSpPr>
          <p:cNvPr id="146" name="Google Shape;146;p18"/>
          <p:cNvSpPr txBox="1"/>
          <p:nvPr/>
        </p:nvSpPr>
        <p:spPr>
          <a:xfrm>
            <a:off x="733425" y="310515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762000" y="3105150"/>
            <a:ext cx="50958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ETL (Transform):</a:t>
            </a:r>
            <a:r>
              <a:rPr lang="en-US" sz="1350" b="0" i="0" u="none" strike="noStrike" cap="none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A Python-orchestrated SQL pipeline transforms the data in place.</a:t>
            </a:r>
            <a:endParaRPr dirty="0"/>
          </a:p>
        </p:txBody>
      </p:sp>
      <p:sp>
        <p:nvSpPr>
          <p:cNvPr id="148" name="Google Shape;148;p18"/>
          <p:cNvSpPr txBox="1"/>
          <p:nvPr/>
        </p:nvSpPr>
        <p:spPr>
          <a:xfrm>
            <a:off x="733425" y="376237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762000" y="3762375"/>
            <a:ext cx="50958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Data Warehouse:</a:t>
            </a:r>
            <a:r>
              <a:rPr lang="en-US" sz="13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Data is loaded into the new Star Schema (5 Dimensions, 1 Fact Table)</a:t>
            </a:r>
            <a:r>
              <a:rPr lang="en-US" sz="135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using BigQuery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733425" y="441960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762000" y="4419600"/>
            <a:ext cx="50958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Analytics:</a:t>
            </a:r>
            <a:r>
              <a:rPr lang="en-US" sz="13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The Streamlit dashboard </a:t>
            </a:r>
            <a:r>
              <a:rPr lang="en-US" sz="135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visualizes the business insights</a:t>
            </a:r>
            <a:endParaRPr/>
          </a:p>
        </p:txBody>
      </p:sp>
      <p:pic>
        <p:nvPicPr>
          <p:cNvPr id="152" name="Google Shape;152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928932"/>
            <a:ext cx="5267325" cy="384222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58A6FF"/>
                </a:solidFill>
                <a:latin typeface="Urbanist"/>
                <a:ea typeface="Urbanist"/>
                <a:cs typeface="Urbanist"/>
                <a:sym typeface="Urbanist"/>
              </a:rPr>
              <a:t>HIGH-LEVEL DESIGN</a:t>
            </a:r>
            <a:endParaRPr/>
          </a:p>
        </p:txBody>
      </p:sp>
      <p:pic>
        <p:nvPicPr>
          <p:cNvPr id="154" name="Google Shape;15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34050" y="1925044"/>
            <a:ext cx="526732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1BE4B32-B66B-B820-1B2B-3FF7BCDEB7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34168" y="3071173"/>
            <a:ext cx="580104" cy="9340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80975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571500" y="1809750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58A6FF"/>
                </a:solidFill>
                <a:latin typeface="Urbanist"/>
                <a:ea typeface="Urbanist"/>
                <a:cs typeface="Urbanist"/>
                <a:sym typeface="Urbanist"/>
              </a:rPr>
              <a:t>Schema Details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733425" y="231457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762000" y="2314575"/>
            <a:ext cx="50958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Fact Table:</a:t>
            </a:r>
            <a:r>
              <a:rPr lang="en-US" sz="13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`Fact_Sales` (Center) - Stores all measures (Sales, Profit, Quantity) and foreign keys.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733425" y="297180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762000" y="2971800"/>
            <a:ext cx="5095875" cy="2114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Dimensions: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733425" y="52292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762000" y="5229225"/>
            <a:ext cx="50958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SCD Join Logic:</a:t>
            </a:r>
            <a:r>
              <a:rPr lang="en-US" sz="13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Historical joins use `Order Date BETWEEN start_date AND end_date` for point-in-time accuracy.</a:t>
            </a:r>
            <a:endParaRPr/>
          </a:p>
        </p:txBody>
      </p:sp>
      <p:pic>
        <p:nvPicPr>
          <p:cNvPr id="168" name="Google Shape;16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819275"/>
            <a:ext cx="52673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1019175" y="322897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1047750" y="3228975"/>
            <a:ext cx="48101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`</a:t>
            </a:r>
            <a:r>
              <a:rPr lang="en-US" sz="1350" b="0" i="0" u="none" strike="noStrike" cap="none" dirty="0" err="1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Dim_Product</a:t>
            </a:r>
            <a:r>
              <a:rPr lang="en-US" sz="1350" b="0" i="0" u="none" strike="noStrike" cap="none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` (SCD Type 2)</a:t>
            </a:r>
            <a:endParaRPr dirty="0"/>
          </a:p>
        </p:txBody>
      </p:sp>
      <p:sp>
        <p:nvSpPr>
          <p:cNvPr id="171" name="Google Shape;171;p19"/>
          <p:cNvSpPr txBox="1"/>
          <p:nvPr/>
        </p:nvSpPr>
        <p:spPr>
          <a:xfrm>
            <a:off x="1019175" y="36290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1047750" y="3629025"/>
            <a:ext cx="48101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`Dim_Customer` (SCD Type 2)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1019175" y="402907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1047750" y="4029075"/>
            <a:ext cx="48101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`Dim_Location` (SCD Type 2)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1019175" y="442912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1047750" y="4429125"/>
            <a:ext cx="48101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`Dim_Shipping` (Static)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1019175" y="482917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1047750" y="4829175"/>
            <a:ext cx="48101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`Dim_Date` (Static)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58A6FF"/>
                </a:solidFill>
                <a:latin typeface="Urbanist"/>
                <a:ea typeface="Urbanist"/>
                <a:cs typeface="Urbanist"/>
                <a:sym typeface="Urbanist"/>
              </a:rPr>
              <a:t>LOW-LEVEL DESIGN - STAR SCHEMA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A2AAED-FBFB-767C-97EC-D5E57E7F34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4124" y="1819275"/>
            <a:ext cx="5286375" cy="37909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2781300" y="571500"/>
            <a:ext cx="696087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58A6FF"/>
                </a:solidFill>
                <a:latin typeface="Urbanist"/>
                <a:ea typeface="Urbanist"/>
                <a:cs typeface="Urbanist"/>
                <a:sym typeface="Urbanist"/>
              </a:rPr>
              <a:t>END-TO-END PIPELINE - STAGING TO STAR SCHEMA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3114675" y="1866900"/>
            <a:ext cx="62960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Start:</a:t>
            </a:r>
            <a:r>
              <a:rPr lang="en-US" sz="1500" b="0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 Trigger the main Python script orchestration.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3114675" y="2314575"/>
            <a:ext cx="62960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Drop &amp; Recreate:</a:t>
            </a:r>
            <a:r>
              <a:rPr lang="en-US" sz="1500" b="0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 `CREATE OR REPLACE TABLE` commands run for all 5 dimensions and 1 fact table.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3114675" y="3067050"/>
            <a:ext cx="62960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Load Static Dimensions:</a:t>
            </a:r>
            <a:r>
              <a:rPr lang="en-US" sz="1500" b="0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 `INSERT INTO` scripts run for `Dim_Date` and `Dim_Shipping`.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3114675" y="3819525"/>
            <a:ext cx="62960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Load SCD Dimensions:</a:t>
            </a:r>
            <a:r>
              <a:rPr lang="en-US" sz="1500" b="0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 `INSERT INTO` scripts with window functions run for `Dim_Customer`, `Dim_Product`, &amp; `Dim_Location`.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3114675" y="4572000"/>
            <a:ext cx="6296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Load Fact Table:</a:t>
            </a:r>
            <a:r>
              <a:rPr lang="en-US" sz="1500" b="0" i="0" u="none" strike="noStrike" cap="none" dirty="0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 The final `INSERT INTO...SELECT...JOIN` script runs, performing point-in-time lookups to populate `</a:t>
            </a:r>
            <a:r>
              <a:rPr lang="en-US" sz="1500" b="0" i="0" u="none" strike="noStrike" cap="none" dirty="0" err="1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Fact_Sales</a:t>
            </a:r>
            <a:r>
              <a:rPr lang="en-US" sz="1500" b="0" i="0" u="none" strike="noStrike" cap="none" dirty="0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`.</a:t>
            </a:r>
            <a:endParaRPr dirty="0"/>
          </a:p>
        </p:txBody>
      </p:sp>
      <p:sp>
        <p:nvSpPr>
          <p:cNvPr id="191" name="Google Shape;191;p20"/>
          <p:cNvSpPr txBox="1"/>
          <p:nvPr/>
        </p:nvSpPr>
        <p:spPr>
          <a:xfrm>
            <a:off x="3114675" y="5324475"/>
            <a:ext cx="62960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End:</a:t>
            </a:r>
            <a:r>
              <a:rPr lang="en-US" sz="1500" b="0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 Pipeline complete and data is ready for analysis.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2781300" y="186690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58A6FF"/>
                </a:solidFill>
                <a:latin typeface="Urbanist"/>
                <a:ea typeface="Urbanist"/>
                <a:cs typeface="Urbanist"/>
                <a:sym typeface="Urbanist"/>
              </a:rPr>
              <a:t>✓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2781300" y="231457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58A6FF"/>
                </a:solidFill>
                <a:latin typeface="Urbanist"/>
                <a:ea typeface="Urbanist"/>
                <a:cs typeface="Urbanist"/>
                <a:sym typeface="Urbanist"/>
              </a:rPr>
              <a:t>✓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2781300" y="306705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58A6FF"/>
                </a:solidFill>
                <a:latin typeface="Urbanist"/>
                <a:ea typeface="Urbanist"/>
                <a:cs typeface="Urbanist"/>
                <a:sym typeface="Urbanist"/>
              </a:rPr>
              <a:t>✓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2781300" y="381952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58A6FF"/>
                </a:solidFill>
                <a:latin typeface="Urbanist"/>
                <a:ea typeface="Urbanist"/>
                <a:cs typeface="Urbanist"/>
                <a:sym typeface="Urbanist"/>
              </a:rPr>
              <a:t>✓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2781300" y="4572000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58A6FF"/>
                </a:solidFill>
                <a:latin typeface="Urbanist"/>
                <a:ea typeface="Urbanist"/>
                <a:cs typeface="Urbanist"/>
                <a:sym typeface="Urbanist"/>
              </a:rPr>
              <a:t>✓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2781300" y="5324475"/>
            <a:ext cx="190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58A6FF"/>
                </a:solidFill>
                <a:latin typeface="Urbanist"/>
                <a:ea typeface="Urbanist"/>
                <a:cs typeface="Urbanist"/>
                <a:sym typeface="Urbanist"/>
              </a:rPr>
              <a:t>✓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1238250" y="2466975"/>
            <a:ext cx="10096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NULL Prevention:</a:t>
            </a:r>
            <a:r>
              <a:rPr lang="en-US" sz="150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`WHERE...IS NOT NULL` clauses are used during dimension creation to ensure business keys are valid.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1238250" y="2943225"/>
            <a:ext cx="10096500" cy="692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SCD Type 2 Join Logic: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The `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start_date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AND </a:t>
            </a:r>
            <a:r>
              <a:rPr lang="en-US" sz="1500" b="0" i="0" u="none" strike="noStrike" cap="none" dirty="0" err="1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end_date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` join condition ensures that every fact record links to the *correct historical version* of a dimension.</a:t>
            </a:r>
            <a:endParaRPr dirty="0"/>
          </a:p>
        </p:txBody>
      </p:sp>
      <p:sp>
        <p:nvSpPr>
          <p:cNvPr id="205" name="Google Shape;205;p21"/>
          <p:cNvSpPr txBox="1"/>
          <p:nvPr/>
        </p:nvSpPr>
        <p:spPr>
          <a:xfrm>
            <a:off x="1238250" y="3705225"/>
            <a:ext cx="10096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Referential Integrity:</a:t>
            </a:r>
            <a:r>
              <a:rPr lang="en-US" sz="150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`LEFT JOIN` is used when building the fact table. This prevents data loss if a dimension record is missing and allows `NULL` keys for later analysis.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1238250" y="4467225"/>
            <a:ext cx="10096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Type Casting:</a:t>
            </a:r>
            <a:r>
              <a:rPr lang="en-US" sz="1500" b="0" i="0" u="none" strike="noStrike" cap="none" dirty="0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All measures (`Sales`, `Quantity`) are explicitly `CAST` to their correct data type (e.g., `FLOAT64`, `INT64`) during the final fact table load.</a:t>
            </a:r>
            <a:endParaRPr dirty="0"/>
          </a:p>
        </p:txBody>
      </p:sp>
      <p:pic>
        <p:nvPicPr>
          <p:cNvPr id="207" name="Google Shape;20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2514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299085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375285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4514850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571500" y="571500"/>
            <a:ext cx="1160145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3000" b="0" i="0" u="none" strike="noStrike" cap="none" dirty="0">
              <a:solidFill>
                <a:srgbClr val="58A6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rgbClr val="58A6FF"/>
                </a:solidFill>
                <a:latin typeface="Urbanist"/>
                <a:ea typeface="Urbanist"/>
                <a:cs typeface="Urbanist"/>
                <a:sym typeface="Urbanist"/>
              </a:rPr>
              <a:t>DATA INTEGRITY &amp; QUALITY CHECKS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 txBox="1"/>
          <p:nvPr/>
        </p:nvSpPr>
        <p:spPr>
          <a:xfrm>
            <a:off x="1238250" y="2324100"/>
            <a:ext cx="10096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Workflow Management:</a:t>
            </a:r>
            <a:r>
              <a:rPr lang="en-US" sz="150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The pipeline is orchestrated as a series of dependent SQL queries, executed in a precise order by a master Python script.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1238250" y="3086100"/>
            <a:ext cx="10096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Idempotency:</a:t>
            </a:r>
            <a:r>
              <a:rPr lang="en-US" sz="150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The entire pipeline is fully re-runnable. `CREATE OR REPLACE TABLE` ensures tables are always in a clean state before loading.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1238250" y="3848100"/>
            <a:ext cx="10096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Scalability:</a:t>
            </a:r>
            <a:r>
              <a:rPr lang="en-US" sz="150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All heavy lifting is done by BigQuery SQL, which scales automatically. The Python script is a lightweight orchestrator.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1238250" y="4610100"/>
            <a:ext cx="10096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Future Automation:</a:t>
            </a:r>
            <a:r>
              <a:rPr lang="en-US" sz="150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This script can be scheduled via GCP Cloud Composer, Airflow, or GCP Cloud Scheduler for nightly batch runs.</a:t>
            </a:r>
            <a:endParaRPr/>
          </a:p>
        </p:txBody>
      </p:sp>
      <p:pic>
        <p:nvPicPr>
          <p:cNvPr id="221" name="Google Shape;221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2371725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3133725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38957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46577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2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58A6FF"/>
                </a:solidFill>
                <a:latin typeface="Urbanist"/>
                <a:ea typeface="Urbanist"/>
                <a:cs typeface="Urbanist"/>
                <a:sym typeface="Urbanist"/>
              </a:rPr>
              <a:t>PIPELINE ORCHESTRATION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1238250" y="2466975"/>
            <a:ext cx="10096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Job Logging:</a:t>
            </a:r>
            <a:r>
              <a:rPr lang="en-US" sz="150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All SQL query executions, successes, and failures are automatically logged in the BigQuery Job History for auditing and troubleshooting.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1238250" y="3228975"/>
            <a:ext cx="10096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Performance Monitoring:</a:t>
            </a:r>
            <a:r>
              <a:rPr lang="en-US" sz="150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BigQuery query performance (slots used, time taken) can be monitored via GCP Cloud Monitoring and the BigQuery UI.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1238250" y="3990975"/>
            <a:ext cx="10096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Cost Monitoring:</a:t>
            </a:r>
            <a:r>
              <a:rPr lang="en-US" sz="150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GCP Budgets and alerts can be set on the BigQuery project to prevent unexpected costs.</a:t>
            </a:r>
            <a:endParaRPr/>
          </a:p>
        </p:txBody>
      </p:sp>
      <p:pic>
        <p:nvPicPr>
          <p:cNvPr id="235" name="Google Shape;23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251460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3276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40386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3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58A6FF"/>
                </a:solidFill>
                <a:latin typeface="Urbanist"/>
                <a:ea typeface="Urbanist"/>
                <a:cs typeface="Urbanist"/>
                <a:sym typeface="Urbanist"/>
              </a:rPr>
              <a:t>ALERTS, MONITORING, LOGGING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4310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4"/>
          <p:cNvSpPr txBox="1"/>
          <p:nvPr/>
        </p:nvSpPr>
        <p:spPr>
          <a:xfrm>
            <a:off x="571500" y="1943100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58A6FF"/>
                </a:solidFill>
                <a:latin typeface="Urbanist"/>
                <a:ea typeface="Urbanist"/>
                <a:cs typeface="Urbanist"/>
                <a:sym typeface="Urbanist"/>
              </a:rPr>
              <a:t>Monthly Sales &amp; Profit Trend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571500" y="2495550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This time-series chart, built by querying the `Fact_Sales` and `Dim_Date` tables, allows users to track performance over time and identify seasonal trends or anomalies.</a:t>
            </a:r>
            <a:endParaRPr/>
          </a:p>
        </p:txBody>
      </p:sp>
      <p:pic>
        <p:nvPicPr>
          <p:cNvPr id="248" name="Google Shape;248;p24" descr="image.png"/>
          <p:cNvPicPr preferRelativeResize="0"/>
          <p:nvPr/>
        </p:nvPicPr>
        <p:blipFill rotWithShape="1">
          <a:blip r:embed="rId5">
            <a:alphaModFix/>
          </a:blip>
          <a:srcRect t="14322" b="14565"/>
          <a:stretch>
            <a:fillRect/>
          </a:stretch>
        </p:blipFill>
        <p:spPr>
          <a:xfrm>
            <a:off x="6343649" y="1943100"/>
            <a:ext cx="52673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58A6FF"/>
                </a:solidFill>
                <a:latin typeface="Urbanist"/>
                <a:ea typeface="Urbanist"/>
                <a:cs typeface="Urbanist"/>
                <a:sym typeface="Urbanist"/>
              </a:rPr>
              <a:t>VISUALIZATIONS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5"/>
          <p:cNvSpPr txBox="1"/>
          <p:nvPr/>
        </p:nvSpPr>
        <p:spPr>
          <a:xfrm>
            <a:off x="152400" y="152400"/>
            <a:ext cx="11859600" cy="6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58A6FF"/>
                </a:solidFill>
                <a:latin typeface="Urbanist"/>
                <a:ea typeface="Urbanist"/>
                <a:cs typeface="Urbanist"/>
                <a:sym typeface="Urbanist"/>
              </a:rPr>
              <a:t>      VISUALIZATIONS - KPIs</a:t>
            </a:r>
            <a:endParaRPr sz="2300">
              <a:solidFill>
                <a:srgbClr val="58A6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700"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700"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700"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700"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700"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700"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700"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1700"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chemeClr val="lt1"/>
                </a:solidFill>
              </a:rPr>
              <a:t>      KPIs &amp; Map Analysis</a:t>
            </a:r>
            <a:endParaRPr sz="1500" b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300">
                <a:solidFill>
                  <a:schemeClr val="lt1"/>
                </a:solidFill>
              </a:rPr>
              <a:t>                 The dashboard leads with key performance indicators (KPIs) like Total Sales, Total Profit, and Avg. Shipping Days. A dynamic choropleth map     visualizes sales and profit by state, allowing for easy identification of top-performing regions.</a:t>
            </a:r>
            <a:endParaRPr sz="1300">
              <a:solidFill>
                <a:schemeClr val="lt1"/>
              </a:solidFill>
            </a:endParaRPr>
          </a:p>
        </p:txBody>
      </p:sp>
      <p:pic>
        <p:nvPicPr>
          <p:cNvPr id="255" name="Google Shape;25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975" y="1075350"/>
            <a:ext cx="10543949" cy="400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 txBox="1"/>
          <p:nvPr/>
        </p:nvSpPr>
        <p:spPr>
          <a:xfrm>
            <a:off x="0" y="0"/>
            <a:ext cx="12192000" cy="6872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rgbClr val="58A6FF"/>
                </a:solidFill>
                <a:latin typeface="Urbanist"/>
                <a:ea typeface="Urbanist"/>
                <a:cs typeface="Urbanist"/>
                <a:sym typeface="Urbanist"/>
              </a:rPr>
              <a:t>       VISUALIZATIONS - DEEP-DIVE ANALYSIS</a:t>
            </a:r>
            <a:endParaRPr sz="2300" b="1" dirty="0">
              <a:solidFill>
                <a:srgbClr val="58A6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300" b="1" dirty="0">
              <a:solidFill>
                <a:srgbClr val="58A6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300" b="1" dirty="0">
              <a:solidFill>
                <a:srgbClr val="58A6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300" b="1" dirty="0">
              <a:solidFill>
                <a:srgbClr val="58A6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300" b="1" dirty="0">
              <a:solidFill>
                <a:srgbClr val="58A6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300" b="1" dirty="0">
              <a:solidFill>
                <a:srgbClr val="58A6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300" b="1" dirty="0">
              <a:solidFill>
                <a:srgbClr val="58A6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endParaRPr sz="2300" b="1" dirty="0">
              <a:solidFill>
                <a:srgbClr val="58A6FF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rgbClr val="58A6FF"/>
                </a:solidFill>
                <a:latin typeface="Urbanist"/>
                <a:ea typeface="Urbanist"/>
                <a:cs typeface="Urbanist"/>
                <a:sym typeface="Urbanist"/>
              </a:rPr>
              <a:t>        </a:t>
            </a:r>
            <a:r>
              <a:rPr lang="en-US" sz="1600" b="1" dirty="0">
                <a:solidFill>
                  <a:schemeClr val="lt1"/>
                </a:solidFill>
              </a:rPr>
              <a:t>Product &amp; Segment Profitability</a:t>
            </a:r>
            <a:endParaRPr sz="1600" b="1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              Interactive bar charts allow users to drill down from Category to Sub-Category, analyzing both profit and sales. Filters for region, ship mode,     and customer segment enable granular, deep-dive analysis to find the most and least profitable items</a:t>
            </a:r>
            <a:r>
              <a:rPr lang="en-US" sz="1100" dirty="0">
                <a:solidFill>
                  <a:schemeClr val="lt1"/>
                </a:solidFill>
              </a:rPr>
              <a:t>.</a:t>
            </a:r>
            <a:endParaRPr sz="1100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</p:txBody>
      </p:sp>
      <p:pic>
        <p:nvPicPr>
          <p:cNvPr id="261" name="Google Shape;26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878" y="1109517"/>
            <a:ext cx="9448244" cy="385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43100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7"/>
          <p:cNvSpPr txBox="1"/>
          <p:nvPr/>
        </p:nvSpPr>
        <p:spPr>
          <a:xfrm>
            <a:off x="571500" y="1943100"/>
            <a:ext cx="5550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58A6FF"/>
                </a:solidFill>
                <a:latin typeface="Urbanist"/>
                <a:ea typeface="Urbanist"/>
                <a:cs typeface="Urbanist"/>
                <a:sym typeface="Urbanist"/>
              </a:rPr>
              <a:t>Sales by Customer Segment</a:t>
            </a:r>
            <a:endParaRPr/>
          </a:p>
        </p:txBody>
      </p:sp>
      <p:sp>
        <p:nvSpPr>
          <p:cNvPr id="269" name="Google Shape;269;p27"/>
          <p:cNvSpPr txBox="1"/>
          <p:nvPr/>
        </p:nvSpPr>
        <p:spPr>
          <a:xfrm>
            <a:off x="571500" y="2495550"/>
            <a:ext cx="5286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This chart joins `Fact_Sales` with `Dim_Customer` to provide a clear breakdown of revenue by segment. This helps answer "Who are our most valuable customers?"</a:t>
            </a:r>
            <a:endParaRPr/>
          </a:p>
        </p:txBody>
      </p:sp>
      <p:sp>
        <p:nvSpPr>
          <p:cNvPr id="270" name="Google Shape;270;p27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58A6FF"/>
                </a:solidFill>
                <a:latin typeface="Urbanist"/>
                <a:ea typeface="Urbanist"/>
                <a:cs typeface="Urbanist"/>
                <a:sym typeface="Urbanist"/>
              </a:rPr>
              <a:t>VISUALIZATIONS</a:t>
            </a:r>
            <a:endParaRPr/>
          </a:p>
        </p:txBody>
      </p:sp>
      <p:pic>
        <p:nvPicPr>
          <p:cNvPr id="271" name="Google Shape;271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32873" y="1694200"/>
            <a:ext cx="5488877" cy="405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8"/>
          <p:cNvSpPr txBox="1"/>
          <p:nvPr/>
        </p:nvSpPr>
        <p:spPr>
          <a:xfrm>
            <a:off x="1238250" y="2466975"/>
            <a:ext cx="10096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Unit Testing:</a:t>
            </a:r>
            <a:r>
              <a:rPr lang="en-US" sz="150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Verified SCD Type 2 logic for a single customer change. Checked row counts from `SELECT DISTINCT` against dimension table counts.</a:t>
            </a:r>
            <a:endParaRPr/>
          </a:p>
        </p:txBody>
      </p:sp>
      <p:sp>
        <p:nvSpPr>
          <p:cNvPr id="278" name="Google Shape;278;p28"/>
          <p:cNvSpPr txBox="1"/>
          <p:nvPr/>
        </p:nvSpPr>
        <p:spPr>
          <a:xfrm>
            <a:off x="1238250" y="3228975"/>
            <a:ext cx="10096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Integration Testing:</a:t>
            </a:r>
            <a:r>
              <a:rPr lang="en-US" sz="150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Executed the end-to-end Python script to validate the flow (Dimensions must load before Facts).</a:t>
            </a:r>
            <a:endParaRPr/>
          </a:p>
        </p:txBody>
      </p:sp>
      <p:sp>
        <p:nvSpPr>
          <p:cNvPr id="279" name="Google Shape;279;p28"/>
          <p:cNvSpPr txBox="1"/>
          <p:nvPr/>
        </p:nvSpPr>
        <p:spPr>
          <a:xfrm>
            <a:off x="1238250" y="3705225"/>
            <a:ext cx="10096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Data Validation:</a:t>
            </a:r>
            <a:r>
              <a:rPr lang="en-US" sz="150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Ran aggregate queries (e.g., `SUM(Sales)`) on both the source table and the fact table to ensure no measures were lost.</a:t>
            </a:r>
            <a:endParaRPr/>
          </a:p>
        </p:txBody>
      </p:sp>
      <p:sp>
        <p:nvSpPr>
          <p:cNvPr id="280" name="Google Shape;280;p28"/>
          <p:cNvSpPr txBox="1"/>
          <p:nvPr/>
        </p:nvSpPr>
        <p:spPr>
          <a:xfrm>
            <a:off x="1238250" y="4467225"/>
            <a:ext cx="10096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Dashboard Testing:</a:t>
            </a:r>
            <a:r>
              <a:rPr lang="en-US" sz="150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Connected the Streamlit dashboard to the *new* star schema tables and confirmed all charts render correctly.</a:t>
            </a:r>
            <a:endParaRPr/>
          </a:p>
        </p:txBody>
      </p:sp>
      <p:pic>
        <p:nvPicPr>
          <p:cNvPr id="281" name="Google Shape;281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2514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327660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3752850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8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58A6FF"/>
                </a:solidFill>
                <a:latin typeface="Urbanist"/>
                <a:ea typeface="Urbanist"/>
                <a:cs typeface="Urbanist"/>
                <a:sym typeface="Urbanist"/>
              </a:rPr>
              <a:t>TYPE OF TESTING DONE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9"/>
          <p:cNvSpPr txBox="1"/>
          <p:nvPr/>
        </p:nvSpPr>
        <p:spPr>
          <a:xfrm>
            <a:off x="1238250" y="2324100"/>
            <a:ext cx="10096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Historical Accuracy:</a:t>
            </a:r>
            <a:r>
              <a:rPr lang="en-US" sz="150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Enables true point-in-time analysis (e.g., "What was our profit by segment *before* the customer definitions changed?").</a:t>
            </a:r>
            <a:endParaRPr/>
          </a:p>
        </p:txBody>
      </p:sp>
      <p:sp>
        <p:nvSpPr>
          <p:cNvPr id="291" name="Google Shape;291;p29"/>
          <p:cNvSpPr txBox="1"/>
          <p:nvPr/>
        </p:nvSpPr>
        <p:spPr>
          <a:xfrm>
            <a:off x="1238250" y="3086100"/>
            <a:ext cx="10096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Single Source of Truth:</a:t>
            </a:r>
            <a:r>
              <a:rPr lang="en-US" sz="150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Creates a clean, reliable, and governed data warehouse for all business analytics, eliminating data silos.</a:t>
            </a:r>
            <a:endParaRPr/>
          </a:p>
        </p:txBody>
      </p:sp>
      <p:sp>
        <p:nvSpPr>
          <p:cNvPr id="292" name="Google Shape;292;p29"/>
          <p:cNvSpPr txBox="1"/>
          <p:nvPr/>
        </p:nvSpPr>
        <p:spPr>
          <a:xfrm>
            <a:off x="1238250" y="3848100"/>
            <a:ext cx="10096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High-Performance Analytics:</a:t>
            </a:r>
            <a:r>
              <a:rPr lang="en-US" sz="150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The star schema is highly optimized for BigQuery, resulting in fast-loading and interactive dashboards.</a:t>
            </a:r>
            <a:endParaRPr/>
          </a:p>
        </p:txBody>
      </p:sp>
      <p:sp>
        <p:nvSpPr>
          <p:cNvPr id="293" name="Google Shape;293;p29"/>
          <p:cNvSpPr txBox="1"/>
          <p:nvPr/>
        </p:nvSpPr>
        <p:spPr>
          <a:xfrm>
            <a:off x="1238250" y="4610100"/>
            <a:ext cx="10096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E6EDF3"/>
                </a:solidFill>
                <a:latin typeface="Urbanist"/>
                <a:ea typeface="Urbanist"/>
                <a:cs typeface="Urbanist"/>
                <a:sym typeface="Urbanist"/>
              </a:rPr>
              <a:t>Scalable &amp; Maintainable:</a:t>
            </a:r>
            <a:r>
              <a:rPr lang="en-US" sz="1500" b="0" i="0" u="none" strike="noStrike" cap="none">
                <a:solidFill>
                  <a:srgbClr val="C9D1D9"/>
                </a:solidFill>
                <a:latin typeface="Urbanist"/>
                <a:ea typeface="Urbanist"/>
                <a:cs typeface="Urbanist"/>
                <a:sym typeface="Urbanist"/>
              </a:rPr>
              <a:t> The automated, idempotent pipeline is easy to maintain and scales effortlessly with data growth in BigQuery.</a:t>
            </a:r>
            <a:endParaRPr/>
          </a:p>
        </p:txBody>
      </p:sp>
      <p:pic>
        <p:nvPicPr>
          <p:cNvPr id="294" name="Google Shape;294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7250" y="2371725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7250" y="313372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57250" y="389572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4657725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9"/>
          <p:cNvSpPr txBox="1"/>
          <p:nvPr/>
        </p:nvSpPr>
        <p:spPr>
          <a:xfrm>
            <a:off x="571500" y="571500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58A6FF"/>
                </a:solidFill>
                <a:latin typeface="Urbanist"/>
                <a:ea typeface="Urbanist"/>
                <a:cs typeface="Urbanist"/>
                <a:sym typeface="Urbanist"/>
              </a:rPr>
              <a:t>BUSINESS IMPACTS &amp; OUTCOMES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0"/>
          <p:cNvSpPr txBox="1"/>
          <p:nvPr/>
        </p:nvSpPr>
        <p:spPr>
          <a:xfrm>
            <a:off x="295275" y="2605087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58A6FF"/>
                </a:solidFill>
                <a:latin typeface="Urbanist"/>
                <a:ea typeface="Urbanist"/>
                <a:cs typeface="Urbanist"/>
                <a:sym typeface="Urbanist"/>
              </a:rPr>
              <a:t>Thank You</a:t>
            </a:r>
            <a:endParaRPr/>
          </a:p>
        </p:txBody>
      </p:sp>
      <p:sp>
        <p:nvSpPr>
          <p:cNvPr id="304" name="Google Shape;304;p30"/>
          <p:cNvSpPr txBox="1"/>
          <p:nvPr/>
        </p:nvSpPr>
        <p:spPr>
          <a:xfrm>
            <a:off x="571500" y="3729037"/>
            <a:ext cx="11049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1349</Words>
  <Application>Microsoft Office PowerPoint</Application>
  <PresentationFormat>Widescreen</PresentationFormat>
  <Paragraphs>115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Urbanist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Hemanth M</cp:lastModifiedBy>
  <cp:revision>5</cp:revision>
  <dcterms:modified xsi:type="dcterms:W3CDTF">2025-11-08T06:05:19Z</dcterms:modified>
</cp:coreProperties>
</file>